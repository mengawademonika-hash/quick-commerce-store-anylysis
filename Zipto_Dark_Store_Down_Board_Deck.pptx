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B1F3A"/>
                </a:solidFill>
                <a:latin typeface="Arial"/>
              </a:rPr>
              <a:t>Contribution by store (₹ lakh)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/ P&amp;L before rent (₹ lakh)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23-4FDB-899E-8A2E4BAFE8F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E23-4FDB-899E-8A2E4BAFE8F1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23-4FDB-899E-8A2E4BAFE8F1}"/>
              </c:ext>
            </c:extLst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23-4FDB-899E-8A2E4BAFE8F1}"/>
              </c:ext>
            </c:extLst>
          </c:dPt>
          <c:dPt>
            <c:idx val="4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23-4FDB-899E-8A2E4BAFE8F1}"/>
              </c:ext>
            </c:extLst>
          </c:dPt>
          <c:dPt>
            <c:idx val="5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E23-4FDB-899E-8A2E4BAFE8F1}"/>
              </c:ext>
            </c:extLst>
          </c:dPt>
          <c:dPt>
            <c:idx val="6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E23-4FDB-899E-8A2E4BAFE8F1}"/>
              </c:ext>
            </c:extLst>
          </c:dPt>
          <c:dPt>
            <c:idx val="7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E23-4FDB-899E-8A2E4BAFE8F1}"/>
              </c:ext>
            </c:extLst>
          </c:dPt>
          <c:dPt>
            <c:idx val="8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E23-4FDB-899E-8A2E4BAFE8F1}"/>
              </c:ext>
            </c:extLst>
          </c:dPt>
          <c:dPt>
            <c:idx val="9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E23-4FDB-899E-8A2E4BAFE8F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S07</c:v>
                </c:pt>
                <c:pt idx="1">
                  <c:v>S03</c:v>
                </c:pt>
                <c:pt idx="2">
                  <c:v>S08</c:v>
                </c:pt>
                <c:pt idx="3">
                  <c:v>S09</c:v>
                </c:pt>
                <c:pt idx="4">
                  <c:v>S04</c:v>
                </c:pt>
                <c:pt idx="5">
                  <c:v>S10</c:v>
                </c:pt>
                <c:pt idx="6">
                  <c:v>S02</c:v>
                </c:pt>
                <c:pt idx="7">
                  <c:v>S05</c:v>
                </c:pt>
                <c:pt idx="8">
                  <c:v>S01</c:v>
                </c:pt>
                <c:pt idx="9">
                  <c:v>S06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-2.0299999999999998</c:v>
                </c:pt>
                <c:pt idx="1">
                  <c:v>0.8</c:v>
                </c:pt>
                <c:pt idx="2">
                  <c:v>4.24</c:v>
                </c:pt>
                <c:pt idx="3">
                  <c:v>1.35</c:v>
                </c:pt>
                <c:pt idx="4">
                  <c:v>4.4400000000000004</c:v>
                </c:pt>
                <c:pt idx="5">
                  <c:v>4.0999999999999996</c:v>
                </c:pt>
                <c:pt idx="6">
                  <c:v>4.58</c:v>
                </c:pt>
                <c:pt idx="7">
                  <c:v>3.59</c:v>
                </c:pt>
                <c:pt idx="8">
                  <c:v>4.59</c:v>
                </c:pt>
                <c:pt idx="9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E23-4FDB-899E-8A2E4BAFE8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Where the ₹ gap sits (₹ lakh)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spPr>
            <a:solidFill>
              <a:srgbClr val="E3A00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Excess returns</c:v>
                </c:pt>
                <c:pt idx="1">
                  <c:v>Discount / basket / COGS mix</c:v>
                </c:pt>
                <c:pt idx="2">
                  <c:v>Delivery cost above peer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4.91</c:v>
                </c:pt>
                <c:pt idx="1">
                  <c:v>3.44</c:v>
                </c:pt>
                <c:pt idx="2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F3-47A2-9BE9-88F38C1828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40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Six weeks of order and trip data, 10 dark stores, 10-minute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ITLE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/home/claude/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7307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160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 DOWN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Zipto Quick Commerce — Noida Cluster Review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 needs two stores, a diagnosis and a ₹ value</a:t>
            </a:r>
            <a:endParaRPr lang="en-US" sz="2800" dirty="0"/>
          </a:p>
        </p:txBody>
      </p:sp>
      <p:sp>
        <p:nvSpPr>
          <p:cNvPr id="3" name="Tile 1"/>
          <p:cNvSpPr/>
          <p:nvPr/>
        </p:nvSpPr>
        <p:spPr>
          <a:xfrm>
            <a:off x="54864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stores in the Noida cluster</a:t>
            </a:r>
            <a:endParaRPr lang="en-US" sz="1600" dirty="0"/>
          </a:p>
        </p:txBody>
      </p:sp>
      <p:sp>
        <p:nvSpPr>
          <p:cNvPr id="6" name="Tile 2"/>
          <p:cNvSpPr/>
          <p:nvPr/>
        </p:nvSpPr>
        <p:spPr>
          <a:xfrm>
            <a:off x="429768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72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promise</a:t>
            </a:r>
            <a:endParaRPr lang="en-US" sz="1600" dirty="0"/>
          </a:p>
        </p:txBody>
      </p:sp>
      <p:sp>
        <p:nvSpPr>
          <p:cNvPr id="9" name="Tile 3"/>
          <p:cNvSpPr/>
          <p:nvPr/>
        </p:nvSpPr>
        <p:spPr>
          <a:xfrm>
            <a:off x="8046720" y="14630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72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304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52,133 orders analysed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COO’s question: “Which 2 stores should we fix first, what exactly is broken, and how much is fixing it worth in ₹?”</a:t>
            </a:r>
            <a:endParaRPr lang="en-US" sz="1800" dirty="0"/>
          </a:p>
        </p:txBody>
      </p:sp>
      <p:sp>
        <p:nvSpPr>
          <p:cNvPr id="13" name="Step 1"/>
          <p:cNvSpPr/>
          <p:nvPr/>
        </p:nvSpPr>
        <p:spPr>
          <a:xfrm>
            <a:off x="548640" y="3977640"/>
            <a:ext cx="201168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promise missed; store economics uneven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97764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tep 2"/>
          <p:cNvSpPr/>
          <p:nvPr/>
        </p:nvSpPr>
        <p:spPr>
          <a:xfrm>
            <a:off x="2798064" y="3977640"/>
            <a:ext cx="201168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98064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798064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trips, partners → on-time, time, cost, contribution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397764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tep 3"/>
          <p:cNvSpPr/>
          <p:nvPr/>
        </p:nvSpPr>
        <p:spPr>
          <a:xfrm>
            <a:off x="5047488" y="3977640"/>
            <a:ext cx="201168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47488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stores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47488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on 5 metrics, not one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97764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tep 4"/>
          <p:cNvSpPr/>
          <p:nvPr/>
        </p:nvSpPr>
        <p:spPr>
          <a:xfrm>
            <a:off x="7296912" y="3977640"/>
            <a:ext cx="201168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96912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the data shows is broken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3977640"/>
            <a:ext cx="237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tep 5"/>
          <p:cNvSpPr/>
          <p:nvPr/>
        </p:nvSpPr>
        <p:spPr>
          <a:xfrm>
            <a:off x="9546336" y="3977640"/>
            <a:ext cx="201168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46336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Impact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peer economics (₹)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the operational problem and quantify the value of fixing it, using only the supplied data.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delivers 45% on time against an 80% target</a:t>
            </a:r>
            <a:endParaRPr lang="en-US" sz="2800" dirty="0"/>
          </a:p>
        </p:txBody>
      </p:sp>
      <p:sp>
        <p:nvSpPr>
          <p:cNvPr id="3" name="KPI Orders"/>
          <p:cNvSpPr/>
          <p:nvPr/>
        </p:nvSpPr>
        <p:spPr>
          <a:xfrm>
            <a:off x="548640" y="14630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52,133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KPI On-time %"/>
          <p:cNvSpPr/>
          <p:nvPr/>
        </p:nvSpPr>
        <p:spPr>
          <a:xfrm>
            <a:off x="3063240" y="14630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 (≤10 min)</a:t>
            </a:r>
            <a:endParaRPr lang="en-US" sz="1200" dirty="0"/>
          </a:p>
        </p:txBody>
      </p:sp>
      <p:sp>
        <p:nvSpPr>
          <p:cNvPr id="11" name="KPI Avg delivery time"/>
          <p:cNvSpPr/>
          <p:nvPr/>
        </p:nvSpPr>
        <p:spPr>
          <a:xfrm>
            <a:off x="5577840" y="14630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min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10 min</a:t>
            </a:r>
            <a:endParaRPr lang="en-US" sz="1200" dirty="0"/>
          </a:p>
        </p:txBody>
      </p:sp>
      <p:sp>
        <p:nvSpPr>
          <p:cNvPr id="15" name="KPI Avg delivery cost"/>
          <p:cNvSpPr/>
          <p:nvPr/>
        </p:nvSpPr>
        <p:spPr>
          <a:xfrm>
            <a:off x="548640" y="361188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cost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14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₹30.8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92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delivered order</a:t>
            </a:r>
            <a:endParaRPr lang="en-US" sz="1200" dirty="0"/>
          </a:p>
        </p:txBody>
      </p:sp>
      <p:sp>
        <p:nvSpPr>
          <p:cNvPr id="19" name="KPI Contribution"/>
          <p:cNvSpPr/>
          <p:nvPr/>
        </p:nvSpPr>
        <p:spPr>
          <a:xfrm>
            <a:off x="3063240" y="361188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4114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₹30.26L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4892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200" dirty="0"/>
          </a:p>
        </p:txBody>
      </p:sp>
      <p:sp>
        <p:nvSpPr>
          <p:cNvPr id="23" name="KPI Store P&amp;L"/>
          <p:cNvSpPr/>
          <p:nvPr/>
        </p:nvSpPr>
        <p:spPr>
          <a:xfrm>
            <a:off x="5577840" y="361188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P&amp;L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114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₹30.26L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4892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contribution; rent not supplied</a:t>
            </a:r>
            <a:endParaRPr lang="en-US" sz="1200" dirty="0"/>
          </a:p>
        </p:txBody>
      </p:sp>
      <p:sp>
        <p:nvSpPr>
          <p:cNvPr id="27" name="Insights panel"/>
          <p:cNvSpPr/>
          <p:nvPr/>
        </p:nvSpPr>
        <p:spPr>
          <a:xfrm>
            <a:off x="8321040" y="1463040"/>
            <a:ext cx="3337560" cy="4069080"/>
          </a:xfrm>
          <a:prstGeom prst="roundRect">
            <a:avLst>
              <a:gd name="adj" fmla="val 219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4964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210312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stores sit at 49–50% on time; S03 and S07 at 28%.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cost is ₹28 at eight stores and ₹42 at S03/S07 (+50%) on the same ~3.0 km trips.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cost ₹11.4 lakh of contribution; S07 returns 14.0% of orders vs 3.2% at peers.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uses the brief’s 10-minute promise. Orders data carries promised_minutes = 15; on that basis the cluster is 84.7% on time. Averages are on delivered orders.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stores break away from an otherwise uniform cluster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4023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−₹2.03L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1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₹1.35L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₹4.44L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₹4.10L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₹4.58L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₹3.59L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₹4.59L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₹4.60L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fix first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Green = best three</a:t>
            </a:r>
            <a:endParaRPr lang="en-US" sz="1200" dirty="0"/>
          </a:p>
        </p:txBody>
      </p:sp>
      <p:sp>
        <p:nvSpPr>
          <p:cNvPr id="3" name="Text 2"/>
          <p:cNvSpPr txBox="1"/>
          <p:nvPr/>
        </p:nvSpPr>
        <p:spPr>
          <a:xfrm>
            <a:off x="548640" y="5852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= Store P&amp;L before rent (rent not supplied). Ranked worst → best on P&amp;L, on-time, time, cost, contribution.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0" y="1371600"/>
          <a:ext cx="48463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S09 opened 15 Jun 2026 (14 days of data) — totals not comparable; unit economics are normal.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S07 and S03 first: same delivery fingerprint, large ₹ gap</a:t>
            </a:r>
            <a:endParaRPr lang="en-US" sz="2800" dirty="0"/>
          </a:p>
        </p:txBody>
      </p:sp>
      <p:sp>
        <p:nvSpPr>
          <p:cNvPr id="3" name="Card S07"/>
          <p:cNvSpPr/>
          <p:nvPr/>
        </p:nvSpPr>
        <p:spPr>
          <a:xfrm>
            <a:off x="548640" y="132588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P&amp;L*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−₹2.03L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min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−₹2.03L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broken?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18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14.0% of orders (peers 3.2%); delivery costs ₹42.1/order (+₹14); only 27.9% on time.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159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 returns lose ~₹470 each: −₹3.74L. Loses ₹36 per order vs +₹77 at peers. Gap: ₹6.41L.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Zipto do?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413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return reasons and SKUs; time-study dispatch and rider pay; cap discount depth.</a:t>
            </a:r>
            <a:endParaRPr lang="en-US" sz="1400" dirty="0"/>
          </a:p>
        </p:txBody>
      </p:sp>
      <p:sp>
        <p:nvSpPr>
          <p:cNvPr id="22" name="Card S03"/>
          <p:cNvSpPr/>
          <p:nvPr/>
        </p:nvSpPr>
        <p:spPr>
          <a:xfrm>
            <a:off x="6172200" y="132588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417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SECOND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P&amp;L*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min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42416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broken?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3218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pattern: ₹42.0/order delivery, 27.7% on time, 12.5 min; returns 7.9% (2.5x peers).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3159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₹0.80L, ~80% below the average peer store. Gap to peer economics: ₹3.49L.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Zipto do?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413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vehicle to trip (bicycle 14.4 min vs petrol 8.1 min); review the ₹42 cost basis; audit returns.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P&amp;L before rent (rent not supplied). Causes are hypotheses; the data locates the problem but cannot prove why. Gap = shortfall vs other 8 stores, 6 weeks.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fix S07, then S03 — worth up to ₹9.9 lakh per 6 weeks</a:t>
            </a:r>
            <a:endParaRPr lang="en-US" sz="2800" dirty="0"/>
          </a:p>
        </p:txBody>
      </p:sp>
      <p:sp>
        <p:nvSpPr>
          <p:cNvPr id="3" name="Priority 1"/>
          <p:cNvSpPr/>
          <p:nvPr/>
        </p:nvSpPr>
        <p:spPr>
          <a:xfrm>
            <a:off x="548640" y="13716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S07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14% + ₹42 delivery cost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Return-reason audit, dispatch time study, discount cap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₹6.4 lakh over 6 weeks</a:t>
            </a:r>
            <a:endParaRPr lang="en-US" sz="1400" dirty="0"/>
          </a:p>
        </p:txBody>
      </p:sp>
      <p:sp>
        <p:nvSpPr>
          <p:cNvPr id="6" name="Priority 2"/>
          <p:cNvSpPr/>
          <p:nvPr/>
        </p:nvSpPr>
        <p:spPr>
          <a:xfrm>
            <a:off x="548640" y="278892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— S03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 cost, 28% on time, thin margin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Vehicle-to-trip matching, cost review, returns audit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 lakh over 6 weeks</a:t>
            </a:r>
            <a:endParaRPr lang="en-US" sz="1400" dirty="0"/>
          </a:p>
        </p:txBody>
      </p:sp>
      <p:sp>
        <p:nvSpPr>
          <p:cNvPr id="9" name="Value panel"/>
          <p:cNvSpPr/>
          <p:nvPr/>
        </p:nvSpPr>
        <p:spPr>
          <a:xfrm>
            <a:off x="7498080" y="137160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2668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VALUE OF FIXING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₹9.9 lakh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6 weeks  ≈ ₹7.1 lakh / month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50% capture: ₹4.9 lakh per 6 weeks (₹3.5 lakh / month)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7498080" y="4206240"/>
          <a:ext cx="4160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43434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 these two stores first because they combine operational underperformance with meaningful financial impact.”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“fixed” = S07 and S03 reach the average per-order economics of the other 8 stores in this dataset. A ceiling, not a forecast; no outside benchmark is used. Rent not supplied, so the gap is rent-independent.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iptoBoard">
  <a:themeElements>
    <a:clrScheme name="ZiptoBoard">
      <a:dk1>
        <a:srgbClr val="0B1F3A"/>
      </a:dk1>
      <a:lt1>
        <a:srgbClr val="FFFFFF"/>
      </a:lt1>
      <a:dk2>
        <a:srgbClr val="1F4E79"/>
      </a:dk2>
      <a:lt2>
        <a:srgbClr val="EEF2F7"/>
      </a:lt2>
      <a:accent1>
        <a:srgbClr val="1F4E79"/>
      </a:accent1>
      <a:accent2>
        <a:srgbClr val="C0392B"/>
      </a:accent2>
      <a:accent3>
        <a:srgbClr val="2E8B57"/>
      </a:accent3>
      <a:accent4>
        <a:srgbClr val="E3A008"/>
      </a:accent4>
      <a:accent5>
        <a:srgbClr val="5B6575"/>
      </a:accent5>
      <a:accent6>
        <a:srgbClr val="9CA3AF"/>
      </a:accent6>
      <a:hlink>
        <a:srgbClr val="1F4E79"/>
      </a:hlink>
      <a:folHlink>
        <a:srgbClr val="5B6575"/>
      </a:folHlink>
    </a:clrScheme>
    <a:fontScheme name="Zipto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943</Words>
  <Application>Microsoft Office PowerPoint</Application>
  <PresentationFormat>Widescreen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ZiptoBoard</vt:lpstr>
      <vt:lpstr>PowerPoint Presentation</vt:lpstr>
      <vt:lpstr>The COO needs two stores, a diagnosis and a ₹ value</vt:lpstr>
      <vt:lpstr>Cluster delivers 45% on time against an 80% target</vt:lpstr>
      <vt:lpstr>Two stores break away from an otherwise uniform cluster</vt:lpstr>
      <vt:lpstr>Fix S07 and S03 first: same delivery fingerprint, large ₹ gap</vt:lpstr>
      <vt:lpstr>Recommendation: fix S07, then S03 — worth up to ₹9.9 lakh per 6 weeks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STORE DOWN — Zipto Noida Cluster Review</dc:title>
  <dc:subject>PptxGenJS Presentation</dc:subject>
  <dc:creator>PptxGenJS</dc:creator>
  <cp:lastModifiedBy>Priyanka Mengawade</cp:lastModifiedBy>
  <cp:revision>3</cp:revision>
  <dcterms:created xsi:type="dcterms:W3CDTF">2026-10-06T02:20:33Z</dcterms:created>
  <dcterms:modified xsi:type="dcterms:W3CDTF">2026-10-06T03:07:43Z</dcterms:modified>
</cp:coreProperties>
</file>